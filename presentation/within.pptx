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Open. A large, precise field of document fragments — the knowledge already exists. No architecture, no UI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problem visually obvious before naming any solution: a question, a pile of candidate chunks, and the small slice that's actually relevant.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product reveal, plus a one-line summary of the whole pipeline so nobody is lost before the deep dive starts.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columns: a plain vertical stack (Database and Retrieval sized as the dominant elements) beside the thesis, aligned to the exact computed y of each node.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 taught plainly, then chunking explained with one concrete example: a document splitting into four chunks.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Teaches the lexical/semantic distinction with one shared example chunk and two different queries, before any implementation vocabulary appears.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Embeddings explained from zero, with clearly-labeled conceptual example vectors, before pgvector or semantic_retrieve() are named.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Beginner definition is the visually dominant element in each column; function names and field examples are smaller supporting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output from /retrieve/fulltext and /retrieve/semantic for the same query. Sets up hybrid retrieval as the next, necessary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RRF explained as a concept first — rank-based fusion — with no equation yet. The equation and real numbers come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fused output from /retrieve/hybrid. RRF_K = 60 in retrieval.py. Equation set large — this is the technical centerpiece.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compact four-step chain makes explicit what the LLM does and does not do, then grounds it with the real question and the real answer's opening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Full-width traceability chain, then two explanation lines — citations as a link back to evidence, plus the 'also retrieved' transparency principle.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RAG-vs-SQL fork with a full explanatory sentence under each branch, not just a keyword.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generated SQL and real result rows from POST /nl-sql. Keywords that do the real work (COUNT/GROUP BY/ORDER BY) are highlighted in accent.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Safeguards given a full dedicated slide with real body-sized explanations, not squeezed under the SQL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system reveal: USER → React → FastAPI → PostgreSQL+pgvector, with every capability introduced earlier flanking it. Fills the canvas.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Low density, high impact — one quiet statement on the product's own paper background, nothing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3.png"/><Relationship Id="rId5" Type="http://schemas.openxmlformats.org/officeDocument/2006/relationships/image" Target="../media/image-1-1.png"/><Relationship Id="rId6" Type="http://schemas.openxmlformats.org/officeDocument/2006/relationships/image" Target="../media/image-1-2.png"/><Relationship Id="rId7" Type="http://schemas.openxmlformats.org/officeDocument/2006/relationships/image" Target="../media/image-1-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3152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73107" y="73152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31814" y="73152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90521" y="73152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/Users/syondukea/Software/Projects/Classwork/within/presentation/assets/icons/filetext-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0014" y="950290"/>
            <a:ext cx="316840" cy="316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49227" y="73152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07934" y="73152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666641" y="73152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25348" y="73152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84055" y="73152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42762" y="73152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3" name="Image 1" descr="/Users/syondukea/Software/Projects/Classwork/within/presentation/assets/icons/folder-gr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2255" y="950290"/>
            <a:ext cx="316840" cy="3168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501468" y="73152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166878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873107" y="166878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831814" y="166878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790521" y="166878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749227" y="166878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0" name="Image 2" descr="/Users/syondukea/Software/Projects/Classwork/within/presentation/assets/icons/file-gr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721" y="1887550"/>
            <a:ext cx="316840" cy="31684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707934" y="166878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666641" y="166878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625348" y="166878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584055" y="166878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542762" y="166878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0501468" y="166878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7" name="Image 3" descr="/Users/syondukea/Software/Projects/Classwork/within/presentation/assets/icons/file-gr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0962" y="1887550"/>
            <a:ext cx="316840" cy="31684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914400" y="260604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873107" y="260604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2831814" y="260604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790521" y="260604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749227" y="260604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5707934" y="260604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4" name="Image 4" descr="/Users/syondukea/Software/Projects/Classwork/within/presentation/assets/icons/filetext-gre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7428" y="2824810"/>
            <a:ext cx="316840" cy="31684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6666641" y="260604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7625348" y="260604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8584055" y="260604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9542762" y="260604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10501468" y="260604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914400" y="354330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41" name="Image 5" descr="/Users/syondukea/Software/Projects/Classwork/within/presentation/assets/icons/folder-gre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894" y="3762070"/>
            <a:ext cx="316840" cy="316840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1873107" y="354330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2831814" y="354330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3790521" y="354330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4749227" y="354330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5707934" y="354330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6666641" y="354330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48" name="Image 6" descr="/Users/syondukea/Software/Projects/Classwork/within/presentation/assets/icons/file-gre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6135" y="3762070"/>
            <a:ext cx="316840" cy="316840"/>
          </a:xfrm>
          <a:prstGeom prst="rect">
            <a:avLst/>
          </a:prstGeom>
        </p:spPr>
      </p:pic>
      <p:sp>
        <p:nvSpPr>
          <p:cNvPr id="49" name="Shape 40"/>
          <p:cNvSpPr/>
          <p:nvPr/>
        </p:nvSpPr>
        <p:spPr>
          <a:xfrm>
            <a:off x="7625348" y="354330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Shape 41"/>
          <p:cNvSpPr/>
          <p:nvPr/>
        </p:nvSpPr>
        <p:spPr>
          <a:xfrm>
            <a:off x="8584055" y="354330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Shape 42"/>
          <p:cNvSpPr/>
          <p:nvPr/>
        </p:nvSpPr>
        <p:spPr>
          <a:xfrm>
            <a:off x="9542762" y="354330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10501468" y="3543300"/>
            <a:ext cx="775827" cy="75438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44"/>
          <p:cNvSpPr/>
          <p:nvPr/>
        </p:nvSpPr>
        <p:spPr>
          <a:xfrm>
            <a:off x="914400" y="470916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knowledge is already there.</a:t>
            </a:r>
            <a:endParaRPr lang="en-US" sz="4600" dirty="0"/>
          </a:p>
        </p:txBody>
      </p:sp>
      <p:sp>
        <p:nvSpPr>
          <p:cNvPr id="54" name="Text 45"/>
          <p:cNvSpPr/>
          <p:nvPr/>
        </p:nvSpPr>
        <p:spPr>
          <a:xfrm>
            <a:off x="914400" y="55321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Notes, PDFs, wiki pages, and other documents already contain the information we need.</a:t>
            </a:r>
            <a:endParaRPr lang="en-US" sz="2000" dirty="0"/>
          </a:p>
        </p:txBody>
      </p:sp>
      <p:sp>
        <p:nvSpPr>
          <p:cNvPr id="55" name="Text 46"/>
          <p:cNvSpPr/>
          <p:nvPr/>
        </p:nvSpPr>
        <p:spPr>
          <a:xfrm>
            <a:off x="914400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</a:t>
            </a:r>
            <a:endParaRPr lang="en-US" sz="1200" dirty="0"/>
          </a:p>
        </p:txBody>
      </p:sp>
      <p:sp>
        <p:nvSpPr>
          <p:cNvPr id="56" name="Text 47"/>
          <p:cNvSpPr/>
          <p:nvPr/>
        </p:nvSpPr>
        <p:spPr>
          <a:xfrm>
            <a:off x="9448495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isn’t knowledge. It’s finding it.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14400" y="1783080"/>
            <a:ext cx="10362895" cy="914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96596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may have hundreds of documents and thousands of chunks. A question still needs to find the few pieces that actually matter.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0" y="3035808"/>
            <a:ext cx="914" cy="1828800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01368" y="3008376"/>
            <a:ext cx="54864" cy="54864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7" name="Text 5"/>
          <p:cNvSpPr/>
          <p:nvPr/>
        </p:nvSpPr>
        <p:spPr>
          <a:xfrm>
            <a:off x="2176272" y="2834640"/>
            <a:ext cx="5486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QUESTION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801368" y="3922776"/>
            <a:ext cx="54864" cy="54864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9" name="Text 7"/>
          <p:cNvSpPr/>
          <p:nvPr/>
        </p:nvSpPr>
        <p:spPr>
          <a:xfrm>
            <a:off x="2176272" y="3749040"/>
            <a:ext cx="5486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DOCUMENT CHUNKS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801368" y="4837176"/>
            <a:ext cx="54864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2176272" y="4663440"/>
            <a:ext cx="5486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EVIDENCE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960120" y="28072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DBEAFE"/>
          </a:solidFill>
          <a:ln/>
        </p:spPr>
      </p:sp>
      <p:pic>
        <p:nvPicPr>
          <p:cNvPr id="13" name="Image 0" descr="/Users/syondukea/Software/Projects/Classwork/within/presentation/assets/icons/filetext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916936"/>
            <a:ext cx="237744" cy="23774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60120" y="37216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DBEAFE"/>
          </a:solidFill>
          <a:ln/>
        </p:spPr>
      </p:sp>
      <p:pic>
        <p:nvPicPr>
          <p:cNvPr id="15" name="Image 1" descr="/Users/syondukea/Software/Projects/Classwork/within/presentation/assets/icons/database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3831336"/>
            <a:ext cx="237744" cy="2377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960120" y="46360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/>
        </p:spPr>
      </p:sp>
      <p:pic>
        <p:nvPicPr>
          <p:cNvPr id="17" name="Image 2" descr="/Users/syondukea/Software/Projects/Classwork/within/presentation/assets/icons/search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745736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580644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“how do you uniquely identify a row in a table?” — a real project in Within holds 86 chunks from a single document.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914400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9448495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41168" y="731520"/>
            <a:ext cx="14630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8000"/>
              </a:srgbClr>
            </a:outerShdw>
          </a:effectLst>
        </p:spPr>
      </p:sp>
      <p:pic>
        <p:nvPicPr>
          <p:cNvPr id="3" name="Image 0" descr="/Users/syondukea/Software/Projects/Classwork/within/presentation/assets/icons/filetext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9224" y="1024128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41168" y="1737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364328" y="731520"/>
            <a:ext cx="1463040" cy="1463040"/>
          </a:xfrm>
          <a:prstGeom prst="roundRect">
            <a:avLst>
              <a:gd name="adj" fmla="val 5625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8000"/>
              </a:srgbClr>
            </a:outerShdw>
          </a:effectLst>
        </p:spPr>
      </p:sp>
      <p:pic>
        <p:nvPicPr>
          <p:cNvPr id="6" name="Image 1" descr="/Users/syondukea/Software/Projects/Classwork/within/presentation/assets/icons/database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2384" y="1024128"/>
            <a:ext cx="566928" cy="5669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4328" y="1737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7787488" y="731520"/>
            <a:ext cx="14630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8000"/>
              </a:srgbClr>
            </a:outerShdw>
          </a:effectLst>
        </p:spPr>
      </p:sp>
      <p:pic>
        <p:nvPicPr>
          <p:cNvPr id="9" name="Image 2" descr="/Users/syondukea/Software/Projects/Classwork/within/presentation/assets/icons/cpu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5544" y="1024128"/>
            <a:ext cx="566928" cy="5669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87488" y="1737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4404208" y="12344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Text 7"/>
          <p:cNvSpPr/>
          <p:nvPr/>
        </p:nvSpPr>
        <p:spPr>
          <a:xfrm>
            <a:off x="6827368" y="12344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Text 8"/>
          <p:cNvSpPr/>
          <p:nvPr/>
        </p:nvSpPr>
        <p:spPr>
          <a:xfrm>
            <a:off x="0" y="24688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spc="8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  →   CHUNKS   →   EMBEDDINGS   →   RETRIEVAL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0" y="2944368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Within.</a:t>
            </a:r>
            <a:endParaRPr lang="en-US" sz="6600" dirty="0"/>
          </a:p>
        </p:txBody>
      </p:sp>
      <p:sp>
        <p:nvSpPr>
          <p:cNvPr id="15" name="Text 10"/>
          <p:cNvSpPr/>
          <p:nvPr/>
        </p:nvSpPr>
        <p:spPr>
          <a:xfrm>
            <a:off x="0" y="39319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AI-native knowledge database.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1463040" y="4389120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stores documents, breaks them into searchable chunks, retrieves the relevant evidence, and hands that evidence to an LLM.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914400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9448495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is not the database.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14400" y="1783080"/>
            <a:ext cx="10362895" cy="914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2167128"/>
            <a:ext cx="914" cy="3337560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121408"/>
            <a:ext cx="91440" cy="9144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6" name="Text 4"/>
          <p:cNvSpPr/>
          <p:nvPr/>
        </p:nvSpPr>
        <p:spPr>
          <a:xfrm>
            <a:off x="1399032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05840" y="2898648"/>
            <a:ext cx="91440" cy="914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8" name="Text 6"/>
          <p:cNvSpPr/>
          <p:nvPr/>
        </p:nvSpPr>
        <p:spPr>
          <a:xfrm>
            <a:off x="1399032" y="2743200"/>
            <a:ext cx="54864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1005840" y="3858768"/>
            <a:ext cx="91440" cy="914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0" name="Text 8"/>
          <p:cNvSpPr/>
          <p:nvPr/>
        </p:nvSpPr>
        <p:spPr>
          <a:xfrm>
            <a:off x="1399032" y="3703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005840" y="4727448"/>
            <a:ext cx="91440" cy="914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2" name="Text 10"/>
          <p:cNvSpPr/>
          <p:nvPr/>
        </p:nvSpPr>
        <p:spPr>
          <a:xfrm>
            <a:off x="1399032" y="4572000"/>
            <a:ext cx="5486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1005840" y="5458968"/>
            <a:ext cx="9144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1399032" y="5303520"/>
            <a:ext cx="54864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09160" y="2761488"/>
            <a:ext cx="6568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the actual knowledge.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09160" y="3721608"/>
            <a:ext cx="6568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the pieces relevant to the question.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09160" y="4590288"/>
            <a:ext cx="6568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those pieces into a useful answer.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14400" y="5806440"/>
            <a:ext cx="10362895" cy="91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916168"/>
            <a:ext cx="103628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speaks last.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14400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448495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First: put the knowledge in a database.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14400" y="1783080"/>
            <a:ext cx="10362895" cy="914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96596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is where Within stores the structured representation of the knowledge — every document, and every chunk of every document.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788920"/>
            <a:ext cx="31494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3246120"/>
            <a:ext cx="3149498" cy="91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392424"/>
            <a:ext cx="3149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721608"/>
            <a:ext cx="3149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4050792"/>
            <a:ext cx="3149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21098" y="2788920"/>
            <a:ext cx="31494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21098" y="3246120"/>
            <a:ext cx="3149498" cy="91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1098" y="3392424"/>
            <a:ext cx="3149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21098" y="3721608"/>
            <a:ext cx="3149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project_id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21098" y="4050792"/>
            <a:ext cx="3149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21098" y="4379976"/>
            <a:ext cx="3149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27797" y="2788920"/>
            <a:ext cx="31494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document_chunks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127797" y="3246120"/>
            <a:ext cx="3149498" cy="91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7797" y="3392424"/>
            <a:ext cx="3149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127797" y="3721608"/>
            <a:ext cx="3149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 VECTOR(384)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27797" y="4050792"/>
            <a:ext cx="3149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tsv TSVECTOR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14400" y="4846320"/>
            <a:ext cx="10362895" cy="91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98348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long document is split into smaller chunks, so retrieval can return the one relevant passage — not the entire document.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4400" y="5897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2606040" y="6099048"/>
            <a:ext cx="640080" cy="914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0" y="5843016"/>
            <a:ext cx="1600200" cy="512064"/>
          </a:xfrm>
          <a:prstGeom prst="rect">
            <a:avLst/>
          </a:prstGeom>
          <a:ln w="12700">
            <a:solidFill>
              <a:srgbClr val="9CA3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58978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 1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5212080" y="5843016"/>
            <a:ext cx="1600200" cy="512064"/>
          </a:xfrm>
          <a:prstGeom prst="rect">
            <a:avLst/>
          </a:prstGeom>
          <a:ln w="12700">
            <a:solidFill>
              <a:srgbClr val="9CA3A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58978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 2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7040880" y="5843016"/>
            <a:ext cx="1600200" cy="512064"/>
          </a:xfrm>
          <a:prstGeom prst="rect">
            <a:avLst/>
          </a:prstGeom>
          <a:ln w="12700">
            <a:solidFill>
              <a:srgbClr val="9CA3A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58978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 3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869680" y="5843016"/>
            <a:ext cx="1600200" cy="512064"/>
          </a:xfrm>
          <a:prstGeom prst="rect">
            <a:avLst/>
          </a:prstGeom>
          <a:ln w="12700">
            <a:solidFill>
              <a:srgbClr val="9CA3A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69680" y="58978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 4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14400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448495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chunk. Two ways to search it.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14400" y="1783080"/>
            <a:ext cx="10362895" cy="914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96596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 64 — “A relation is commonly represented as a table. A tuple represents a row in a table…”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14400" y="2514600"/>
            <a:ext cx="10362895" cy="91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74320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FULL-TEXT SEARCH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4815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for words and phrases that literally appear in the text.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16052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"uniquely identify a row"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481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Shares the words “row” and “table” with the chunk — a direct lexical match.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544068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it because the words match.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61608" y="274320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61608" y="3154680"/>
            <a:ext cx="4815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for meaning, even when the exact words differ.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61608" y="388620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Query: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61608" y="416052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"how do you uniquely identify a row?"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61608" y="4572000"/>
            <a:ext cx="481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phrasing, same underlying idea as “a tuple represents a row.”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61608" y="544068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it because the meaning is related.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095848" y="2743200"/>
            <a:ext cx="914" cy="30632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5989320"/>
            <a:ext cx="10362895" cy="91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612648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chunk, two completely different reasons to retrieve it.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4400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448495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embedding?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14400" y="1783080"/>
            <a:ext cx="10362895" cy="914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96596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embedding represents text as a list of numbers — a point in space that captures what the text means.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7889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"primary key"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14800" y="27889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0" y="27889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[ 0.12, −0.41, 0.83, … ]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"unique identifier"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114800" y="32918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0" y="32918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[ 0.15, −0.38, 0.79, … ]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(conceptual example — not real model output; the actual vectors are 384 numbers long)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4343400"/>
            <a:ext cx="10362895" cy="91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48056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exact values don’t matter. What matters is the relationship: texts with related meanings end up with nearby representations.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525780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 lets PostgreSQL store these vectors as a native column type, and compare them directly in SQL.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14400" y="5943600"/>
            <a:ext cx="10362895" cy="91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608076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Within: 384-dimensional, generated locally with all-MiniLM-L6-v2 — no API cost.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448495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query. Four ways to look.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14400" y="1783080"/>
            <a:ext cx="10362895" cy="914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96596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DBEAFE"/>
          </a:solidFill>
          <a:ln/>
        </p:spPr>
      </p:sp>
      <p:pic>
        <p:nvPicPr>
          <p:cNvPr id="5" name="Image 0" descr="/Users/syondukea/Software/Projects/Classwork/within/presentation/assets/icons/filter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572" y="2058132"/>
            <a:ext cx="199705" cy="1997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496312"/>
            <a:ext cx="2213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914400" y="3026664"/>
            <a:ext cx="2213534" cy="91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3172968"/>
            <a:ext cx="22135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database fields and filters.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14400" y="4187952"/>
            <a:ext cx="2213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structured_retrieve()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4782312"/>
            <a:ext cx="2213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project, title, date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79394" y="1965960"/>
            <a:ext cx="914" cy="39776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30854" y="196596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DBEAFE"/>
          </a:solidFill>
          <a:ln/>
        </p:spPr>
      </p:sp>
      <p:pic>
        <p:nvPicPr>
          <p:cNvPr id="13" name="Image 1" descr="/Users/syondukea/Software/Projects/Classwork/within/presentation/assets/icons/type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025" y="2058132"/>
            <a:ext cx="199705" cy="19970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0854" y="2496312"/>
            <a:ext cx="2213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FULL-TEXT</a:t>
            </a:r>
            <a:endParaRPr lang="en-US" sz="2100" dirty="0"/>
          </a:p>
        </p:txBody>
      </p:sp>
      <p:sp>
        <p:nvSpPr>
          <p:cNvPr id="15" name="Shape 11"/>
          <p:cNvSpPr/>
          <p:nvPr/>
        </p:nvSpPr>
        <p:spPr>
          <a:xfrm>
            <a:off x="3630854" y="3026664"/>
            <a:ext cx="2213534" cy="91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630854" y="3172968"/>
            <a:ext cx="22135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words that appear in the text.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3630854" y="4187952"/>
            <a:ext cx="2213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fulltext_retrieve()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630854" y="4782312"/>
            <a:ext cx="2213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tsvector, ts_rank_cd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095848" y="1965960"/>
            <a:ext cx="914" cy="39776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347308" y="196596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DBEAFE"/>
          </a:solidFill>
          <a:ln/>
        </p:spPr>
      </p:sp>
      <p:pic>
        <p:nvPicPr>
          <p:cNvPr id="21" name="Image 2" descr="/Users/syondukea/Software/Projects/Classwork/within/presentation/assets/icons/zap-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479" y="2058132"/>
            <a:ext cx="199705" cy="19970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47308" y="2496312"/>
            <a:ext cx="2213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</a:t>
            </a:r>
            <a:endParaRPr lang="en-US" sz="2100" dirty="0"/>
          </a:p>
        </p:txBody>
      </p:sp>
      <p:sp>
        <p:nvSpPr>
          <p:cNvPr id="23" name="Shape 18"/>
          <p:cNvSpPr/>
          <p:nvPr/>
        </p:nvSpPr>
        <p:spPr>
          <a:xfrm>
            <a:off x="6347308" y="3026664"/>
            <a:ext cx="2213534" cy="91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347308" y="3172968"/>
            <a:ext cx="22135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meaning using embeddings.</a:t>
            </a:r>
            <a:endParaRPr lang="en-US" sz="1650" dirty="0"/>
          </a:p>
        </p:txBody>
      </p:sp>
      <p:sp>
        <p:nvSpPr>
          <p:cNvPr id="25" name="Text 20"/>
          <p:cNvSpPr/>
          <p:nvPr/>
        </p:nvSpPr>
        <p:spPr>
          <a:xfrm>
            <a:off x="6347308" y="4187952"/>
            <a:ext cx="2213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semantic_retrieve()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347308" y="4782312"/>
            <a:ext cx="2213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pgvector, cosine distance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8812301" y="1965960"/>
            <a:ext cx="914" cy="39776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063761" y="196596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/>
        </p:spPr>
      </p:sp>
      <p:pic>
        <p:nvPicPr>
          <p:cNvPr id="29" name="Image 3" descr="/Users/syondukea/Software/Projects/Classwork/within/presentation/assets/icons/gitmerg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5933" y="2058132"/>
            <a:ext cx="199705" cy="19970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063761" y="2496312"/>
            <a:ext cx="2213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</a:t>
            </a:r>
            <a:endParaRPr lang="en-US" sz="2100" dirty="0"/>
          </a:p>
        </p:txBody>
      </p:sp>
      <p:sp>
        <p:nvSpPr>
          <p:cNvPr id="31" name="Shape 25"/>
          <p:cNvSpPr/>
          <p:nvPr/>
        </p:nvSpPr>
        <p:spPr>
          <a:xfrm>
            <a:off x="9063761" y="3026664"/>
            <a:ext cx="2213534" cy="91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9063761" y="3172968"/>
            <a:ext cx="22135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multiple rankings into one.</a:t>
            </a:r>
            <a:endParaRPr lang="en-US" sz="1650" dirty="0"/>
          </a:p>
        </p:txBody>
      </p:sp>
      <p:sp>
        <p:nvSpPr>
          <p:cNvPr id="33" name="Text 27"/>
          <p:cNvSpPr/>
          <p:nvPr/>
        </p:nvSpPr>
        <p:spPr>
          <a:xfrm>
            <a:off x="9063761" y="4187952"/>
            <a:ext cx="2213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hybrid_retrieve()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9063761" y="4782312"/>
            <a:ext cx="2213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Reciprocal Rank Fusion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914400" y="6080760"/>
            <a:ext cx="10362895" cy="91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914400" y="621792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retrieval.py implements all four as separate, inspectable functions — you can watch them disagree.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914400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9448495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searches disagree.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14400" y="1783080"/>
            <a:ext cx="10362895" cy="914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7452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“how do you uniquely identify a row in a table”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spc="6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FULL-TEXT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2752344"/>
            <a:ext cx="4892040" cy="91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5255" y="233172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spc="6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85255" y="2752344"/>
            <a:ext cx="4892040" cy="91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962656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953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17320" y="288036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 64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880360" y="28803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relation is commonly represented as a table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35584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(one exact-token match)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85255" y="2962656"/>
            <a:ext cx="310896" cy="310896"/>
          </a:xfrm>
          <a:prstGeom prst="ellipse">
            <a:avLst/>
          </a:prstGeom>
          <a:ln w="12700">
            <a:solidFill>
              <a:srgbClr val="9CA3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5255" y="2953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88175" y="288036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 61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51215" y="28803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Here, each row represents a student record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85255" y="3438144"/>
            <a:ext cx="310896" cy="310896"/>
          </a:xfrm>
          <a:prstGeom prst="ellipse">
            <a:avLst/>
          </a:prstGeom>
          <a:ln w="12700">
            <a:solidFill>
              <a:srgbClr val="9CA3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5255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88175" y="335584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 65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51215" y="335584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example, consider the Student table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85255" y="3913632"/>
            <a:ext cx="310896" cy="310896"/>
          </a:xfrm>
          <a:prstGeom prst="ellipse">
            <a:avLst/>
          </a:prstGeom>
          <a:ln w="12700">
            <a:solidFill>
              <a:srgbClr val="9CA3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5255" y="3904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88175" y="383133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 63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351215" y="383133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relational database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385255" y="4389120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6385255" y="4379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88175" y="430682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 64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351215" y="430682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relation is commonly represented as a table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385255" y="4864608"/>
            <a:ext cx="310896" cy="310896"/>
          </a:xfrm>
          <a:prstGeom prst="ellipse">
            <a:avLst/>
          </a:prstGeom>
          <a:ln w="12700">
            <a:solidFill>
              <a:srgbClr val="9CA3A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5255" y="4855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88175" y="478231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 67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351215" y="478231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Student_ID can be the primary key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806440" y="3118104"/>
            <a:ext cx="578815" cy="914"/>
          </a:xfrm>
          <a:prstGeom prst="line">
            <a:avLst/>
          </a:prstGeom>
          <a:noFill/>
          <a:ln w="15875">
            <a:solidFill>
              <a:srgbClr val="2563EB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385255" y="3118104"/>
            <a:ext cx="914" cy="1426464"/>
          </a:xfrm>
          <a:prstGeom prst="line">
            <a:avLst/>
          </a:prstGeom>
          <a:noFill/>
          <a:ln w="15875">
            <a:solidFill>
              <a:srgbClr val="2563EB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914400" y="521208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64 — #1 in full-text, #4 in semantic. Same evidence, different rank.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914400" y="5715000"/>
            <a:ext cx="10362895" cy="91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585216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Full-text rewards matching words; semantic rewards related meaning. Neither is wrong.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914400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448495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combine them?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14400" y="1783080"/>
            <a:ext cx="10362895" cy="914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96596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trying to compare two different score scales, we use each search method’s position in its ranking: 1st, 2nd, 3rd…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FULL-TEXT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73775" y="2926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194560" y="3611880"/>
            <a:ext cx="914" cy="27432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3886200"/>
            <a:ext cx="3901288" cy="91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53935" y="3611880"/>
            <a:ext cx="914" cy="27432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95848" y="3886200"/>
            <a:ext cx="1158088" cy="91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5848" y="3886200"/>
            <a:ext cx="914" cy="20116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84168" y="41788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RANKING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754880"/>
            <a:ext cx="10362895" cy="91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920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Reciprocal Rank Fusion: documents that rank highly across multiple lists receive a stronger combined position.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4400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448495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18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chunk. Two rankings. One fused result.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14400" y="1783080"/>
            <a:ext cx="10362895" cy="914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9659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5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FULL-TEXT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442655" y="19659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5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331720"/>
            <a:ext cx="2834640" cy="91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42655" y="2331720"/>
            <a:ext cx="2834640" cy="91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23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 64 → #1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42655" y="2423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 61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442655" y="2788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 65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442655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 63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42655" y="3520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 64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442655" y="3886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 67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331720" y="2788920"/>
            <a:ext cx="914" cy="16916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31720" y="4480560"/>
            <a:ext cx="3764128" cy="91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59975" y="4251960"/>
            <a:ext cx="914" cy="22860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5848" y="4480560"/>
            <a:ext cx="3764128" cy="91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95848" y="4480560"/>
            <a:ext cx="914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55768" y="46634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RRF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0" y="51206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score(d) = Σ 1 / (k + rankᵢ(d))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0" y="5614416"/>
            <a:ext cx="121916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60 — controls how strongly rank position affects the score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0" y="6016752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 64:  1/(60+1) + 1/(60+4) = 0.0320  —  ranked #1 for appearing in both lists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448495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18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ask it.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14400" y="1783080"/>
            <a:ext cx="10362895" cy="914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2167128"/>
            <a:ext cx="914" cy="1975104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121408"/>
            <a:ext cx="91440" cy="914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6" name="Text 4"/>
          <p:cNvSpPr/>
          <p:nvPr/>
        </p:nvSpPr>
        <p:spPr>
          <a:xfrm>
            <a:off x="1399032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05840" y="2779776"/>
            <a:ext cx="91440" cy="914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8" name="Text 6"/>
          <p:cNvSpPr/>
          <p:nvPr/>
        </p:nvSpPr>
        <p:spPr>
          <a:xfrm>
            <a:off x="1399032" y="26243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RETRIEVED EVIDENCE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05840" y="3438144"/>
            <a:ext cx="91440" cy="914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0" name="Text 8"/>
          <p:cNvSpPr/>
          <p:nvPr/>
        </p:nvSpPr>
        <p:spPr>
          <a:xfrm>
            <a:off x="1399032" y="32826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05840" y="4096512"/>
            <a:ext cx="9144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399032" y="394106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239512" y="2606040"/>
            <a:ext cx="603778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receives the relevant evidence. It does not search the entire database itself.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4462272"/>
            <a:ext cx="10362895" cy="91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626864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“What is a primary key in a relational database?”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4400" y="5084064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primary key is an attribute that uniquely identifies each row in a table — for example, Student_ID, because every student has a unique identifier </a:t>
            </a:r>
            <a:pPr algn="l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pPr algn="l"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448495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18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answer should be traceable.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14400" y="1783080"/>
            <a:ext cx="10362895" cy="914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830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2167128"/>
            <a:ext cx="10362895" cy="91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95144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“…every record can be distinguished from all others”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51560" y="2807208"/>
            <a:ext cx="914" cy="146304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2752344"/>
            <a:ext cx="237744" cy="23774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7432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017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3401568"/>
            <a:ext cx="10362895" cy="91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529584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 relation is commonly represented as a table. A tuple represents a row in a table…"  — chunk 64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" y="4041648"/>
            <a:ext cx="914" cy="146304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2519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4636008"/>
            <a:ext cx="10362895" cy="91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764024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1  ·  Database Management Systems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55778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cited claim can be traced back to the retrieved source — it’s a link, not a footnote.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" y="608076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“Also retrieved”: chunks Within found but didn’t cite stay visible too. Nothing is hidden.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448495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18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question is a retrieval question.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14400" y="1783080"/>
            <a:ext cx="10362895" cy="914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96596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many chunks does each document have?” This isn’t a question about interpreting text. It’s a question about structured data.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267048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spc="1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095848" y="3246120"/>
            <a:ext cx="914" cy="777240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35528" y="4023360"/>
            <a:ext cx="5120640" cy="914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35528" y="4023360"/>
            <a:ext cx="914" cy="365760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56168" y="4023360"/>
            <a:ext cx="914" cy="365760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98168" y="44805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QUESTION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918808" y="44805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QUESTION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535528" y="5120640"/>
            <a:ext cx="914" cy="274320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56168" y="5120640"/>
            <a:ext cx="914" cy="274320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98168" y="5486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18808" y="5486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798168" y="5989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and understand relevant text.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18808" y="5989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Filter, join, count, and aggregate structured data.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48495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18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 database directly.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14400" y="1783080"/>
            <a:ext cx="10362895" cy="914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745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“How many chunks does each document have?”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58032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788920"/>
            <a:ext cx="5803221" cy="91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926080"/>
            <a:ext cx="5803221" cy="27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d.id AS document_id,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205759"/>
            <a:ext cx="5803221" cy="27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d.title,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485439"/>
            <a:ext cx="5803221" cy="27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COUNT(dc.id) AS chunk_count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765118"/>
            <a:ext cx="5803221" cy="27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documents 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4044798"/>
            <a:ext cx="5803221" cy="27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document_chunks dc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4324477"/>
            <a:ext cx="5803221" cy="27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dc.document_id = d.id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4604156"/>
            <a:ext cx="5803221" cy="27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d.id, d.title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4883836"/>
            <a:ext cx="5803221" cy="27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chunk_count DESC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5163515"/>
            <a:ext cx="5803221" cy="27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100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57701" y="2423160"/>
            <a:ext cx="3919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57701" y="2788920"/>
            <a:ext cx="3919594" cy="91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57701" y="3017520"/>
            <a:ext cx="30966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454335" y="30175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357701" y="3364992"/>
            <a:ext cx="3919594" cy="91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57701" y="3419856"/>
            <a:ext cx="30966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 1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454335" y="341985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357701" y="3822192"/>
            <a:ext cx="30966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 Customer Data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0454335" y="382219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357701" y="5257800"/>
            <a:ext cx="39195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COUNT() tallies the chunks, GROUP BY groups them per document, ORDER BY ranks the busiest document first.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14400" y="6035040"/>
            <a:ext cx="10362895" cy="91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61722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writes the SQL. PostgreSQL performs the calculation.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14400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448495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18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database still has to be safe.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14400" y="1783080"/>
            <a:ext cx="10362895" cy="914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96596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DBEAFE"/>
          </a:solidFill>
          <a:ln/>
        </p:spPr>
      </p:sp>
      <p:pic>
        <p:nvPicPr>
          <p:cNvPr id="5" name="Image 0" descr="/Users/syondukea/Software/Projects/Classwork/within/presentation/assets/icons/shield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572" y="2058132"/>
            <a:ext cx="199705" cy="1997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496312"/>
            <a:ext cx="2247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SELECT-only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914400" y="3337560"/>
            <a:ext cx="2247824" cy="91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3483864"/>
            <a:ext cx="22478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read queries are allowed. sqlparse checks the statement type before anything runs.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3390824" y="1965960"/>
            <a:ext cx="914" cy="36118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19424" y="196596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DBEAFE"/>
          </a:solidFill>
          <a:ln/>
        </p:spPr>
      </p:sp>
      <p:pic>
        <p:nvPicPr>
          <p:cNvPr id="11" name="Image 1" descr="/Users/syondukea/Software/Projects/Classwork/within/presentation/assets/icons/checkcircle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595" y="2058132"/>
            <a:ext cx="199705" cy="1997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9424" y="2496312"/>
            <a:ext cx="2247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statement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3619424" y="3337560"/>
            <a:ext cx="2247824" cy="91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19424" y="3483864"/>
            <a:ext cx="22478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chained commands. A second statement after a semicolon is rejected outright.</a:t>
            </a:r>
            <a:endParaRPr lang="en-US" sz="1650" dirty="0"/>
          </a:p>
        </p:txBody>
      </p:sp>
      <p:sp>
        <p:nvSpPr>
          <p:cNvPr id="15" name="Shape 11"/>
          <p:cNvSpPr/>
          <p:nvPr/>
        </p:nvSpPr>
        <p:spPr>
          <a:xfrm>
            <a:off x="6095848" y="1965960"/>
            <a:ext cx="914" cy="36118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24448" y="196596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DBEAFE"/>
          </a:solidFill>
          <a:ln/>
        </p:spPr>
      </p:sp>
      <p:pic>
        <p:nvPicPr>
          <p:cNvPr id="17" name="Image 2" descr="/Users/syondukea/Software/Projects/Classwork/within/presentation/assets/icons/lock-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619" y="2058132"/>
            <a:ext cx="199705" cy="19970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24448" y="2496312"/>
            <a:ext cx="2247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transaction</a:t>
            </a:r>
            <a:endParaRPr lang="en-US" sz="2100" dirty="0"/>
          </a:p>
        </p:txBody>
      </p:sp>
      <p:sp>
        <p:nvSpPr>
          <p:cNvPr id="19" name="Shape 14"/>
          <p:cNvSpPr/>
          <p:nvPr/>
        </p:nvSpPr>
        <p:spPr>
          <a:xfrm>
            <a:off x="6324448" y="3337560"/>
            <a:ext cx="2247824" cy="91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324448" y="3483864"/>
            <a:ext cx="22478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LOCAL transaction_read_only = on — the database itself refuses to write.</a:t>
            </a:r>
            <a:endParaRPr lang="en-US" sz="1650" dirty="0"/>
          </a:p>
        </p:txBody>
      </p:sp>
      <p:sp>
        <p:nvSpPr>
          <p:cNvPr id="21" name="Shape 16"/>
          <p:cNvSpPr/>
          <p:nvPr/>
        </p:nvSpPr>
        <p:spPr>
          <a:xfrm>
            <a:off x="8800871" y="1965960"/>
            <a:ext cx="914" cy="36118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029471" y="196596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DBEAFE"/>
          </a:solidFill>
          <a:ln/>
        </p:spPr>
      </p:sp>
      <p:pic>
        <p:nvPicPr>
          <p:cNvPr id="23" name="Image 3" descr="/Users/syondukea/Software/Projects/Classwork/within/presentation/assets/icons/clock-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1643" y="2058132"/>
            <a:ext cx="199705" cy="19970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029471" y="2496312"/>
            <a:ext cx="2247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5-second timeout</a:t>
            </a:r>
            <a:endParaRPr lang="en-US" sz="2100" dirty="0"/>
          </a:p>
        </p:txBody>
      </p:sp>
      <p:sp>
        <p:nvSpPr>
          <p:cNvPr id="25" name="Shape 19"/>
          <p:cNvSpPr/>
          <p:nvPr/>
        </p:nvSpPr>
        <p:spPr>
          <a:xfrm>
            <a:off x="9029471" y="3337560"/>
            <a:ext cx="2247824" cy="91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9029471" y="3483864"/>
            <a:ext cx="22478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Long-running or runaway queries are stopped automatically.</a:t>
            </a:r>
            <a:endParaRPr lang="en-US" sz="1650" dirty="0"/>
          </a:p>
        </p:txBody>
      </p:sp>
      <p:sp>
        <p:nvSpPr>
          <p:cNvPr id="27" name="Shape 21"/>
          <p:cNvSpPr/>
          <p:nvPr/>
        </p:nvSpPr>
        <p:spPr>
          <a:xfrm>
            <a:off x="914400" y="5669280"/>
            <a:ext cx="10362895" cy="91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914400" y="5788152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SQL is validated before it ever touches the database. Proven directly: DELETE, chained statements, and queries against tables outside the schema are all rejected.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914400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9448495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18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it. One system.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914400" y="1783080"/>
            <a:ext cx="10362895" cy="914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20440" y="1965960"/>
            <a:ext cx="914" cy="402336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1965960"/>
            <a:ext cx="914" cy="402336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0" y="2423160"/>
            <a:ext cx="914" cy="2880360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48456" y="223113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DBEAFE"/>
          </a:solidFill>
          <a:ln/>
        </p:spPr>
      </p:sp>
      <p:pic>
        <p:nvPicPr>
          <p:cNvPr id="8" name="Image 0" descr="/Users/syondukea/Software/Projects/Classwork/within/presentation/assets/icons/user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0628" y="2323308"/>
            <a:ext cx="199705" cy="19970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407408" y="225856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3648456" y="319125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DBEAFE"/>
          </a:solidFill>
          <a:ln/>
        </p:spPr>
      </p:sp>
      <p:pic>
        <p:nvPicPr>
          <p:cNvPr id="11" name="Image 1" descr="/Users/syondukea/Software/Projects/Classwork/within/presentation/assets/icons/monitor-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628" y="3283428"/>
            <a:ext cx="199705" cy="1997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07408" y="321868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3648456" y="415137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DBEAFE"/>
          </a:solidFill>
          <a:ln/>
        </p:spPr>
      </p:sp>
      <p:pic>
        <p:nvPicPr>
          <p:cNvPr id="14" name="Image 2" descr="/Users/syondukea/Software/Projects/Classwork/within/presentation/assets/icons/server-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0628" y="4243548"/>
            <a:ext cx="199705" cy="19970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07408" y="417880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2100" dirty="0"/>
          </a:p>
        </p:txBody>
      </p:sp>
      <p:sp>
        <p:nvSpPr>
          <p:cNvPr id="16" name="Shape 11"/>
          <p:cNvSpPr/>
          <p:nvPr/>
        </p:nvSpPr>
        <p:spPr>
          <a:xfrm>
            <a:off x="3648456" y="5111496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DBEAFE"/>
          </a:solidFill>
          <a:ln/>
        </p:spPr>
      </p:sp>
      <p:pic>
        <p:nvPicPr>
          <p:cNvPr id="17" name="Image 3" descr="/Users/syondukea/Software/Projects/Classwork/within/presentation/assets/icons/database-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0628" y="5203668"/>
            <a:ext cx="199705" cy="19970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407408" y="513892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pgvector</a:t>
            </a:r>
            <a:endParaRPr lang="en-US" sz="2100" dirty="0"/>
          </a:p>
        </p:txBody>
      </p:sp>
      <p:sp>
        <p:nvSpPr>
          <p:cNvPr id="19" name="Text 13"/>
          <p:cNvSpPr/>
          <p:nvPr/>
        </p:nvSpPr>
        <p:spPr>
          <a:xfrm>
            <a:off x="91440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914400" y="23317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914400" y="27889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914400" y="32461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14400" y="37033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Structured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14400" y="41605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Full-text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914400" y="46177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14400" y="50749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14400" y="55321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RRF · k=60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8138160" y="1965960"/>
            <a:ext cx="3139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8138160" y="2331720"/>
            <a:ext cx="3139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8138160" y="2788920"/>
            <a:ext cx="3139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Citations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8138160" y="3703320"/>
            <a:ext cx="3139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 → SQL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8138160" y="4160520"/>
            <a:ext cx="3139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8138160" y="4617720"/>
            <a:ext cx="3139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Read-only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8138160" y="5074920"/>
            <a:ext cx="3139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1600" dirty="0"/>
          </a:p>
        </p:txBody>
      </p:sp>
      <p:sp>
        <p:nvSpPr>
          <p:cNvPr id="35" name="Shape 29"/>
          <p:cNvSpPr/>
          <p:nvPr/>
        </p:nvSpPr>
        <p:spPr>
          <a:xfrm>
            <a:off x="914400" y="6172200"/>
            <a:ext cx="10362895" cy="914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0" y="6281928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We’ve been looking at pieces of this the entire time.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914400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9448495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18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3017520"/>
            <a:ext cx="99971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gives knowledge something to think with.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914400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448495" y="6446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Within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Within</dc:creator>
  <cp:lastModifiedBy>Within</cp:lastModifiedBy>
  <cp:revision>1</cp:revision>
  <dcterms:created xsi:type="dcterms:W3CDTF">2026-09-18T02:53:43Z</dcterms:created>
  <dcterms:modified xsi:type="dcterms:W3CDTF">2026-09-18T02:53:43Z</dcterms:modified>
</cp:coreProperties>
</file>